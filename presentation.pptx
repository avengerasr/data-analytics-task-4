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6" r:id="rId11"/>
  </p:sldIdLst>
  <p:sldSz cx="18288000" cy="10287000"/>
  <p:notesSz cx="6858000" cy="9144000"/>
  <p:embeddedFontLst>
    <p:embeddedFont>
      <p:font typeface="Nirmala UI Semilight" pitchFamily="34" charset="0"/>
      <p:regular r:id="rId12"/>
    </p:embeddedFont>
    <p:embeddedFont>
      <p:font typeface="Open Sans" charset="0"/>
      <p:regular r:id="rId13"/>
    </p:embeddedFon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Open Sans Bold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-1906" y="-7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5341" y="5829300"/>
            <a:ext cx="13182490" cy="4789960"/>
          </a:xfrm>
          <a:custGeom>
            <a:avLst/>
            <a:gdLst/>
            <a:ahLst/>
            <a:cxnLst/>
            <a:rect l="l" t="t" r="r" b="b"/>
            <a:pathLst>
              <a:path w="16230600" h="6729761">
                <a:moveTo>
                  <a:pt x="0" y="0"/>
                </a:moveTo>
                <a:lnTo>
                  <a:pt x="16230600" y="0"/>
                </a:lnTo>
                <a:lnTo>
                  <a:pt x="16230600" y="6729761"/>
                </a:lnTo>
                <a:lnTo>
                  <a:pt x="0" y="6729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5908" y="1562100"/>
            <a:ext cx="17937292" cy="29700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</a:pPr>
            <a:r>
              <a:rPr lang="en-US" sz="72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Sales Performance Dashboard Analysis </a:t>
            </a:r>
            <a:endParaRPr lang="en-US" sz="72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5" name="Freeform 5"/>
          <p:cNvSpPr/>
          <p:nvPr/>
        </p:nvSpPr>
        <p:spPr>
          <a:xfrm rot="-10800000">
            <a:off x="11601747" y="-266700"/>
            <a:ext cx="6686253" cy="2772349"/>
          </a:xfrm>
          <a:custGeom>
            <a:avLst/>
            <a:gdLst/>
            <a:ahLst/>
            <a:cxnLst/>
            <a:rect l="l" t="t" r="r" b="b"/>
            <a:pathLst>
              <a:path w="6686253" h="2772349">
                <a:moveTo>
                  <a:pt x="0" y="0"/>
                </a:moveTo>
                <a:lnTo>
                  <a:pt x="6686252" y="0"/>
                </a:lnTo>
                <a:lnTo>
                  <a:pt x="6686252" y="2772349"/>
                </a:lnTo>
                <a:lnTo>
                  <a:pt x="0" y="2772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13660" y="6565457"/>
            <a:ext cx="5671815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22"/>
              </a:lnSpc>
            </a:pPr>
            <a:r>
              <a:rPr lang="en-US" sz="4587" b="1" dirty="0" smtClean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Power BI Project</a:t>
            </a:r>
          </a:p>
          <a:p>
            <a:pPr algn="ctr">
              <a:lnSpc>
                <a:spcPts val="6422"/>
              </a:lnSpc>
            </a:pPr>
            <a:r>
              <a:rPr lang="en-US" sz="4587" b="1" dirty="0" smtClean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 </a:t>
            </a:r>
            <a:r>
              <a:rPr lang="en-US" sz="4587" b="1" dirty="0" err="1" smtClean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Anushri</a:t>
            </a:r>
            <a:endParaRPr lang="en-US" sz="4587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-82112" y="-190500"/>
            <a:ext cx="5960557" cy="3096252"/>
          </a:xfrm>
          <a:custGeom>
            <a:avLst/>
            <a:gdLst/>
            <a:ahLst/>
            <a:cxnLst/>
            <a:rect l="l" t="t" r="r" b="b"/>
            <a:pathLst>
              <a:path w="5953679" h="3114233">
                <a:moveTo>
                  <a:pt x="0" y="0"/>
                </a:moveTo>
                <a:lnTo>
                  <a:pt x="5953679" y="0"/>
                </a:lnTo>
                <a:lnTo>
                  <a:pt x="5953679" y="3114233"/>
                </a:lnTo>
                <a:lnTo>
                  <a:pt x="0" y="31142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059" r="-240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06955" y="1322349"/>
            <a:ext cx="7730378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OBJECTIVE</a:t>
            </a:r>
            <a:endParaRPr lang="en-US" sz="7500" u="none" strike="noStrike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10273" y="3052077"/>
            <a:ext cx="14826067" cy="2920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1050" lvl="1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  <a:sym typeface="Open Sans"/>
              </a:rPr>
              <a:t>Analyze overall business performance</a:t>
            </a:r>
          </a:p>
          <a:p>
            <a:pPr marL="781050" lvl="1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  <a:sym typeface="Open Sans"/>
              </a:rPr>
              <a:t>Understand Customer behavior</a:t>
            </a:r>
          </a:p>
          <a:p>
            <a:pPr marL="781050" lvl="1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  <a:sym typeface="Open Sans"/>
              </a:rPr>
              <a:t>Identify key revenue pattern</a:t>
            </a:r>
            <a:endParaRPr lang="en-US" sz="4400" dirty="0">
              <a:solidFill>
                <a:srgbClr val="000000"/>
              </a:solidFill>
              <a:latin typeface="Nirmala UI Semilight" pitchFamily="34" charset="0"/>
              <a:ea typeface="Nirmala UI Semilight" pitchFamily="34" charset="0"/>
              <a:cs typeface="Nirmala UI Semilight" pitchFamily="34" charset="0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5891" y="3497993"/>
            <a:ext cx="15606697" cy="5074507"/>
            <a:chOff x="-8028" y="-543405"/>
            <a:chExt cx="4110406" cy="1123255"/>
          </a:xfrm>
        </p:grpSpPr>
        <p:sp>
          <p:nvSpPr>
            <p:cNvPr id="3" name="Freeform 3"/>
            <p:cNvSpPr/>
            <p:nvPr/>
          </p:nvSpPr>
          <p:spPr>
            <a:xfrm>
              <a:off x="-8028" y="-543405"/>
              <a:ext cx="4102378" cy="954584"/>
            </a:xfrm>
            <a:custGeom>
              <a:avLst/>
              <a:gdLst/>
              <a:ahLst/>
              <a:cxnLst/>
              <a:rect l="l" t="t" r="r" b="b"/>
              <a:pathLst>
                <a:path w="4102378" h="579850">
                  <a:moveTo>
                    <a:pt x="0" y="0"/>
                  </a:moveTo>
                  <a:lnTo>
                    <a:pt x="4102378" y="0"/>
                  </a:lnTo>
                  <a:lnTo>
                    <a:pt x="4102378" y="579850"/>
                  </a:lnTo>
                  <a:lnTo>
                    <a:pt x="0" y="579850"/>
                  </a:lnTo>
                  <a:close/>
                </a:path>
              </a:pathLst>
            </a:custGeom>
            <a:solidFill>
              <a:srgbClr val="7976DE"/>
            </a:solidFill>
          </p:spPr>
          <p:txBody>
            <a:bodyPr/>
            <a:lstStyle/>
            <a:p>
              <a:pPr marL="571500" indent="-57150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IN" sz="4400" b="1" dirty="0" smtClean="0">
                  <a:solidFill>
                    <a:schemeClr val="bg1"/>
                  </a:solidFill>
                </a:rPr>
                <a:t>Total Revenue</a:t>
              </a:r>
            </a:p>
            <a:p>
              <a:pPr marL="571500" indent="-57150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IN" sz="4400" b="1" dirty="0" smtClean="0">
                  <a:solidFill>
                    <a:schemeClr val="bg1"/>
                  </a:solidFill>
                </a:rPr>
                <a:t>Total Transactions</a:t>
              </a:r>
            </a:p>
            <a:p>
              <a:pPr marL="571500" indent="-57150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IN" sz="4400" b="1" dirty="0" smtClean="0">
                  <a:solidFill>
                    <a:schemeClr val="bg1"/>
                  </a:solidFill>
                </a:rPr>
                <a:t>Average Bill Values</a:t>
              </a:r>
            </a:p>
            <a:p>
              <a:pPr marL="571500" indent="-57150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IN" sz="4400" b="1" dirty="0" smtClean="0">
                  <a:solidFill>
                    <a:schemeClr val="bg1"/>
                  </a:solidFill>
                </a:rPr>
                <a:t>Average Tip Percentage</a:t>
              </a:r>
              <a:endParaRPr lang="en-IN" sz="44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02378" cy="61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188" y="1714500"/>
            <a:ext cx="16916400" cy="122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KEY PERFORMANCE  INDICATOR</a:t>
            </a:r>
            <a:endParaRPr lang="en-US" sz="7500" u="none" strike="noStrike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11" name="Freeform 11"/>
          <p:cNvSpPr/>
          <p:nvPr/>
        </p:nvSpPr>
        <p:spPr>
          <a:xfrm rot="-10800000">
            <a:off x="12249012" y="-862704"/>
            <a:ext cx="6686253" cy="2772349"/>
          </a:xfrm>
          <a:custGeom>
            <a:avLst/>
            <a:gdLst/>
            <a:ahLst/>
            <a:cxnLst/>
            <a:rect l="l" t="t" r="r" b="b"/>
            <a:pathLst>
              <a:path w="6686253" h="2772349">
                <a:moveTo>
                  <a:pt x="0" y="0"/>
                </a:moveTo>
                <a:lnTo>
                  <a:pt x="6686253" y="0"/>
                </a:lnTo>
                <a:lnTo>
                  <a:pt x="6686253" y="2772349"/>
                </a:lnTo>
                <a:lnTo>
                  <a:pt x="0" y="2772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2853559" y="0"/>
            <a:ext cx="11445927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Dashboard Overview</a:t>
            </a:r>
            <a:endParaRPr lang="en-US" sz="75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3460"/>
            <a:ext cx="18288000" cy="94537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645406">
            <a:off x="54791" y="-310472"/>
            <a:ext cx="4614466" cy="1913315"/>
          </a:xfrm>
          <a:custGeom>
            <a:avLst/>
            <a:gdLst/>
            <a:ahLst/>
            <a:cxnLst/>
            <a:rect l="l" t="t" r="r" b="b"/>
            <a:pathLst>
              <a:path w="4614466" h="1913315">
                <a:moveTo>
                  <a:pt x="0" y="0"/>
                </a:moveTo>
                <a:lnTo>
                  <a:pt x="4614466" y="0"/>
                </a:lnTo>
                <a:lnTo>
                  <a:pt x="4614466" y="1913315"/>
                </a:lnTo>
                <a:lnTo>
                  <a:pt x="0" y="1913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42367" y="876300"/>
            <a:ext cx="12100262" cy="122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ANALYSIS PERFORMED </a:t>
            </a:r>
            <a:endParaRPr lang="en-US" sz="75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60367" y="2968625"/>
            <a:ext cx="9898233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Revenue by Day</a:t>
            </a:r>
          </a:p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Revenue by Time (Lunch </a:t>
            </a:r>
            <a:r>
              <a:rPr lang="en-US" sz="4400" dirty="0" err="1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vs</a:t>
            </a: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Dinner)</a:t>
            </a:r>
          </a:p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Tip % by Gender</a:t>
            </a:r>
          </a:p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Revenue by Group Size </a:t>
            </a:r>
            <a:endParaRPr lang="en-US" sz="4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3162300"/>
            <a:ext cx="4879439" cy="4588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57610" y="845820"/>
            <a:ext cx="5616702" cy="8229600"/>
          </a:xfrm>
          <a:custGeom>
            <a:avLst/>
            <a:gdLst/>
            <a:ahLst/>
            <a:cxnLst/>
            <a:rect l="l" t="t" r="r" b="b"/>
            <a:pathLst>
              <a:path w="5616702" h="8229600">
                <a:moveTo>
                  <a:pt x="0" y="0"/>
                </a:moveTo>
                <a:lnTo>
                  <a:pt x="5616702" y="0"/>
                </a:lnTo>
                <a:lnTo>
                  <a:pt x="56167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01517" y="876300"/>
            <a:ext cx="10356094" cy="122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FFFFFF"/>
                </a:solidFill>
                <a:latin typeface="Carelia"/>
                <a:ea typeface="Carelia"/>
                <a:cs typeface="Carelia"/>
                <a:sym typeface="Carelia"/>
              </a:rPr>
              <a:t>KEY INSIGHTS</a:t>
            </a:r>
            <a:endParaRPr lang="en-US" sz="7500" dirty="0">
              <a:solidFill>
                <a:srgbClr val="FFFFFF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657011"/>
            <a:ext cx="12382500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Dinner generates highest revenue (~76%)</a:t>
            </a:r>
          </a:p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Weekends drive maximum sales</a:t>
            </a:r>
          </a:p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Average tip is around 16%</a:t>
            </a:r>
          </a:p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Group size of 2 contributes most revenue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10546" y="876300"/>
            <a:ext cx="12866907" cy="122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BUSINESS IMPACT</a:t>
            </a:r>
            <a:endParaRPr lang="en-US" sz="75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2974162"/>
            <a:ext cx="9563100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Identifies peak revenue time</a:t>
            </a:r>
          </a:p>
          <a:p>
            <a:pPr marL="539749" lvl="1" indent="-269875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Helps target high-value customers</a:t>
            </a:r>
          </a:p>
          <a:p>
            <a:pPr marL="539749" lvl="1" indent="-269875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Supports better decisions making</a:t>
            </a:r>
            <a:endParaRPr lang="en-US" sz="4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6560" y="2130385"/>
            <a:ext cx="5619064" cy="55872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20403" y="876300"/>
            <a:ext cx="13847195" cy="122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RECOMMENDATIONS</a:t>
            </a:r>
            <a:endParaRPr lang="en-US" sz="75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48526" y="3314700"/>
            <a:ext cx="8943274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Focus on dinner promotions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Increase weekend marketing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Encourage group bookings</a:t>
            </a:r>
            <a:endParaRPr lang="en-US" sz="4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Freeform 7"/>
          <p:cNvSpPr/>
          <p:nvPr/>
        </p:nvSpPr>
        <p:spPr>
          <a:xfrm rot="10799999">
            <a:off x="14285892" y="-453058"/>
            <a:ext cx="4907070" cy="2034639"/>
          </a:xfrm>
          <a:custGeom>
            <a:avLst/>
            <a:gdLst/>
            <a:ahLst/>
            <a:cxnLst/>
            <a:rect l="l" t="t" r="r" b="b"/>
            <a:pathLst>
              <a:path w="4907070" h="2034639">
                <a:moveTo>
                  <a:pt x="0" y="0"/>
                </a:moveTo>
                <a:lnTo>
                  <a:pt x="4907070" y="0"/>
                </a:lnTo>
                <a:lnTo>
                  <a:pt x="4907070" y="2034639"/>
                </a:lnTo>
                <a:lnTo>
                  <a:pt x="0" y="2034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3"/>
          <p:cNvSpPr/>
          <p:nvPr/>
        </p:nvSpPr>
        <p:spPr>
          <a:xfrm>
            <a:off x="11995745" y="3016250"/>
            <a:ext cx="4624276" cy="4940893"/>
          </a:xfrm>
          <a:custGeom>
            <a:avLst/>
            <a:gdLst/>
            <a:ahLst/>
            <a:cxnLst/>
            <a:rect l="l" t="t" r="r" b="b"/>
            <a:pathLst>
              <a:path w="4624276" h="4940893">
                <a:moveTo>
                  <a:pt x="0" y="0"/>
                </a:moveTo>
                <a:lnTo>
                  <a:pt x="4624276" y="0"/>
                </a:lnTo>
                <a:lnTo>
                  <a:pt x="4624276" y="4940893"/>
                </a:lnTo>
                <a:lnTo>
                  <a:pt x="0" y="4940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287000" y="3314698"/>
            <a:ext cx="7141927" cy="4317875"/>
            <a:chOff x="0" y="0"/>
            <a:chExt cx="1344402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44402" cy="812800"/>
            </a:xfrm>
            <a:custGeom>
              <a:avLst/>
              <a:gdLst/>
              <a:ahLst/>
              <a:cxnLst/>
              <a:rect l="l" t="t" r="r" b="b"/>
              <a:pathLst>
                <a:path w="1344402" h="812800">
                  <a:moveTo>
                    <a:pt x="33604" y="0"/>
                  </a:moveTo>
                  <a:lnTo>
                    <a:pt x="1310797" y="0"/>
                  </a:lnTo>
                  <a:cubicBezTo>
                    <a:pt x="1319710" y="0"/>
                    <a:pt x="1328257" y="3540"/>
                    <a:pt x="1334559" y="9842"/>
                  </a:cubicBezTo>
                  <a:cubicBezTo>
                    <a:pt x="1340861" y="16145"/>
                    <a:pt x="1344402" y="24692"/>
                    <a:pt x="1344402" y="33604"/>
                  </a:cubicBezTo>
                  <a:lnTo>
                    <a:pt x="1344402" y="779196"/>
                  </a:lnTo>
                  <a:cubicBezTo>
                    <a:pt x="1344402" y="788108"/>
                    <a:pt x="1340861" y="796655"/>
                    <a:pt x="1334559" y="802958"/>
                  </a:cubicBezTo>
                  <a:cubicBezTo>
                    <a:pt x="1328257" y="809260"/>
                    <a:pt x="1319710" y="812800"/>
                    <a:pt x="1310797" y="812800"/>
                  </a:cubicBezTo>
                  <a:lnTo>
                    <a:pt x="33604" y="812800"/>
                  </a:lnTo>
                  <a:cubicBezTo>
                    <a:pt x="24692" y="812800"/>
                    <a:pt x="16145" y="809260"/>
                    <a:pt x="9842" y="802958"/>
                  </a:cubicBezTo>
                  <a:cubicBezTo>
                    <a:pt x="3540" y="796655"/>
                    <a:pt x="0" y="788108"/>
                    <a:pt x="0" y="779196"/>
                  </a:cubicBezTo>
                  <a:lnTo>
                    <a:pt x="0" y="33604"/>
                  </a:lnTo>
                  <a:cubicBezTo>
                    <a:pt x="0" y="24692"/>
                    <a:pt x="3540" y="16145"/>
                    <a:pt x="9842" y="9842"/>
                  </a:cubicBezTo>
                  <a:cubicBezTo>
                    <a:pt x="16145" y="3540"/>
                    <a:pt x="24692" y="0"/>
                    <a:pt x="33604" y="0"/>
                  </a:cubicBezTo>
                  <a:close/>
                </a:path>
              </a:pathLst>
            </a:custGeom>
            <a:blipFill>
              <a:blip r:embed="rId2"/>
              <a:stretch>
                <a:fillRect t="-4789" b="-4789"/>
              </a:stretch>
            </a:blipFill>
            <a:ln w="190500" cap="rnd">
              <a:solidFill>
                <a:srgbClr val="BAB9F2"/>
              </a:solidFill>
              <a:prstDash val="solid"/>
              <a:round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2988166" y="520677"/>
            <a:ext cx="12311669" cy="122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HYPOTHESIS TESTING</a:t>
            </a:r>
            <a:endParaRPr lang="en-US" sz="75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37260" y="1943100"/>
            <a:ext cx="15254898" cy="6771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dirty="0" smtClean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Hypothesis :</a:t>
            </a:r>
          </a:p>
          <a:p>
            <a:r>
              <a:rPr lang="en-US" sz="4000" dirty="0" smtClean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Dinner generates higher revenue than Lunch </a:t>
            </a:r>
          </a:p>
          <a:p>
            <a:endParaRPr lang="en-US" sz="4000" dirty="0">
              <a:solidFill>
                <a:srgbClr val="1605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en-US" sz="4000" dirty="0" smtClean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Test Used:</a:t>
            </a:r>
          </a:p>
          <a:p>
            <a:r>
              <a:rPr lang="en-US" sz="4000" dirty="0" smtClean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T-Test</a:t>
            </a:r>
          </a:p>
          <a:p>
            <a:endParaRPr lang="en-US" sz="4000" dirty="0">
              <a:solidFill>
                <a:srgbClr val="1605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en-US" sz="4000" dirty="0" smtClean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Result :</a:t>
            </a:r>
          </a:p>
          <a:p>
            <a:r>
              <a:rPr lang="en-US" sz="4000" dirty="0" smtClean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Dinner revenue is higher than lunch</a:t>
            </a:r>
          </a:p>
          <a:p>
            <a:endParaRPr lang="en-US" sz="4000" dirty="0">
              <a:solidFill>
                <a:srgbClr val="1605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en-US" sz="4000" dirty="0" smtClean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Conclusion :</a:t>
            </a:r>
          </a:p>
          <a:p>
            <a:r>
              <a:rPr lang="en-US" sz="4000" dirty="0" smtClean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Focus on dinner to maximize revenue</a:t>
            </a:r>
            <a:endParaRPr lang="en-US" sz="4000" dirty="0">
              <a:solidFill>
                <a:srgbClr val="16051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9514">
            <a:off x="-4351614" y="105858"/>
            <a:ext cx="26259383" cy="10888037"/>
          </a:xfrm>
          <a:custGeom>
            <a:avLst/>
            <a:gdLst/>
            <a:ahLst/>
            <a:cxnLst/>
            <a:rect l="l" t="t" r="r" b="b"/>
            <a:pathLst>
              <a:path w="26259383" h="10888037">
                <a:moveTo>
                  <a:pt x="0" y="0"/>
                </a:moveTo>
                <a:lnTo>
                  <a:pt x="26259383" y="0"/>
                </a:lnTo>
                <a:lnTo>
                  <a:pt x="26259383" y="10888036"/>
                </a:lnTo>
                <a:lnTo>
                  <a:pt x="0" y="10888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479367"/>
            <a:ext cx="7253387" cy="505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6"/>
              </a:lnSpc>
            </a:pPr>
            <a:r>
              <a:rPr lang="en-US" sz="14475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THANK</a:t>
            </a:r>
          </a:p>
          <a:p>
            <a:pPr marL="0" lvl="0" indent="0" algn="l">
              <a:lnSpc>
                <a:spcPts val="20266"/>
              </a:lnSpc>
              <a:spcBef>
                <a:spcPct val="0"/>
              </a:spcBef>
            </a:pPr>
            <a:r>
              <a:rPr lang="en-US" sz="14475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 YOU!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142</Words>
  <Application>Microsoft Office PowerPoint</Application>
  <PresentationFormat>Custom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Nirmala UI Semilight</vt:lpstr>
      <vt:lpstr>Open Sans</vt:lpstr>
      <vt:lpstr>Calibri</vt:lpstr>
      <vt:lpstr>Carelia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White Minimalist Pitch Deck Business Presentation</dc:title>
  <dc:creator>@nushri ....</dc:creator>
  <cp:lastModifiedBy>Anushri Ramteke</cp:lastModifiedBy>
  <cp:revision>14</cp:revision>
  <dcterms:created xsi:type="dcterms:W3CDTF">2006-08-16T00:00:00Z</dcterms:created>
  <dcterms:modified xsi:type="dcterms:W3CDTF">2026-03-26T14:08:02Z</dcterms:modified>
  <dc:identifier>DAHE2nmaIVU</dc:identifier>
</cp:coreProperties>
</file>